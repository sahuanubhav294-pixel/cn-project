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chivo Black" panose="020B0604020202020204" charset="0"/>
      <p:regular r:id="rId19"/>
    </p:embeddedFont>
    <p:embeddedFont>
      <p:font typeface="Arial Black" panose="020B0A04020102020204" pitchFamily="34" charset="0"/>
      <p:bold r:id="rId20"/>
    </p:embeddedFont>
    <p:embeddedFont>
      <p:font typeface="IBM Plex Mono" panose="020F0502020204030204" pitchFamily="49" charset="0"/>
      <p:regular r:id="rId21"/>
    </p:embeddedFont>
    <p:embeddedFont>
      <p:font typeface="IBM Plex Mono Bold" panose="020B0604020202020204" charset="0"/>
      <p:regular r:id="rId22"/>
    </p:embeddedFont>
    <p:embeddedFont>
      <p:font typeface="IBM Plex Sans" panose="020F0502020204030204" pitchFamily="34" charset="0"/>
      <p:regular r:id="rId23"/>
    </p:embeddedFont>
    <p:embeddedFont>
      <p:font typeface="IBM Plex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US" dirty="0"/>
              <a:t>N	Nam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71A2B">
                    <a:alpha val="98000"/>
                  </a:srgbClr>
                </a:gs>
                <a:gs pos="62000">
                  <a:srgbClr val="071A2B">
                    <a:alpha val="72000"/>
                  </a:srgbClr>
                </a:gs>
                <a:gs pos="100000">
                  <a:srgbClr val="071A2B">
                    <a:alpha val="12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66800" y="1628775"/>
            <a:ext cx="10668000" cy="1761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2"/>
              </a:lnSpc>
            </a:pPr>
            <a:r>
              <a:rPr lang="en-US" sz="66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AI-Based Video Quality of Service Prediction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882515"/>
            <a:ext cx="9334500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32D6C5"/>
                </a:solidFill>
                <a:latin typeface="IBM Plex Sans"/>
                <a:ea typeface="IBM Plex Sans"/>
                <a:cs typeface="IBM Plex Sans"/>
                <a:sym typeface="IBM Plex Sans"/>
              </a:rPr>
              <a:t>LSTM + Transformer for Intelligent Multimedia Networks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80D08-5B46-E6FE-F822-B4D0A036CFA4}"/>
              </a:ext>
            </a:extLst>
          </p:cNvPr>
          <p:cNvSpPr txBox="1"/>
          <p:nvPr/>
        </p:nvSpPr>
        <p:spPr>
          <a:xfrm>
            <a:off x="1028700" y="7649011"/>
            <a:ext cx="7581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</a:rPr>
              <a:t>NAME: ANUBHAV SAHU</a:t>
            </a:r>
          </a:p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</a:rPr>
              <a:t>REGISTRATION NUMBER: 25BCE0213</a:t>
            </a:r>
          </a:p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</a:rPr>
              <a:t>PROJECT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predict video QoS before it breaks?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906000" y="2381250"/>
            <a:ext cx="2952750" cy="1428750"/>
            <a:chOff x="0" y="0"/>
            <a:chExt cx="3937000" cy="190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37000" cy="1905000"/>
            </a:xfrm>
            <a:custGeom>
              <a:avLst/>
              <a:gdLst/>
              <a:ahLst/>
              <a:cxnLst/>
              <a:rect l="l" t="t" r="r" b="b"/>
              <a:pathLst>
                <a:path w="3937000" h="1905000">
                  <a:moveTo>
                    <a:pt x="73742" y="0"/>
                  </a:moveTo>
                  <a:lnTo>
                    <a:pt x="3863258" y="0"/>
                  </a:lnTo>
                  <a:cubicBezTo>
                    <a:pt x="3882816" y="0"/>
                    <a:pt x="3901572" y="7769"/>
                    <a:pt x="3915401" y="21599"/>
                  </a:cubicBezTo>
                  <a:cubicBezTo>
                    <a:pt x="3929231" y="35428"/>
                    <a:pt x="3937000" y="54184"/>
                    <a:pt x="3937000" y="73742"/>
                  </a:cubicBezTo>
                  <a:lnTo>
                    <a:pt x="3937000" y="1831258"/>
                  </a:lnTo>
                  <a:cubicBezTo>
                    <a:pt x="3937000" y="1850816"/>
                    <a:pt x="3929231" y="1869572"/>
                    <a:pt x="3915401" y="1883402"/>
                  </a:cubicBezTo>
                  <a:cubicBezTo>
                    <a:pt x="3901572" y="1897231"/>
                    <a:pt x="3882816" y="1905000"/>
                    <a:pt x="3863258" y="1905000"/>
                  </a:cubicBezTo>
                  <a:lnTo>
                    <a:pt x="73742" y="1905000"/>
                  </a:lnTo>
                  <a:cubicBezTo>
                    <a:pt x="54184" y="1905000"/>
                    <a:pt x="35428" y="1897231"/>
                    <a:pt x="21599" y="1883402"/>
                  </a:cubicBezTo>
                  <a:cubicBezTo>
                    <a:pt x="7769" y="1869572"/>
                    <a:pt x="0" y="1850816"/>
                    <a:pt x="0" y="1831258"/>
                  </a:cubicBezTo>
                  <a:lnTo>
                    <a:pt x="0" y="73742"/>
                  </a:lnTo>
                  <a:cubicBezTo>
                    <a:pt x="0" y="54184"/>
                    <a:pt x="7769" y="35428"/>
                    <a:pt x="21599" y="21599"/>
                  </a:cubicBezTo>
                  <a:cubicBezTo>
                    <a:pt x="35428" y="7769"/>
                    <a:pt x="54184" y="0"/>
                    <a:pt x="73742" y="0"/>
                  </a:cubicBezTo>
                  <a:close/>
                </a:path>
              </a:pathLst>
            </a:custGeom>
            <a:solidFill>
              <a:srgbClr val="10283B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937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NETWORK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TELEMETRY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06500" y="2381250"/>
            <a:ext cx="2952750" cy="1428750"/>
            <a:chOff x="0" y="0"/>
            <a:chExt cx="3937000" cy="190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37000" cy="1905000"/>
            </a:xfrm>
            <a:custGeom>
              <a:avLst/>
              <a:gdLst/>
              <a:ahLst/>
              <a:cxnLst/>
              <a:rect l="l" t="t" r="r" b="b"/>
              <a:pathLst>
                <a:path w="3937000" h="1905000">
                  <a:moveTo>
                    <a:pt x="73742" y="0"/>
                  </a:moveTo>
                  <a:lnTo>
                    <a:pt x="3863258" y="0"/>
                  </a:lnTo>
                  <a:cubicBezTo>
                    <a:pt x="3882816" y="0"/>
                    <a:pt x="3901572" y="7769"/>
                    <a:pt x="3915401" y="21599"/>
                  </a:cubicBezTo>
                  <a:cubicBezTo>
                    <a:pt x="3929231" y="35428"/>
                    <a:pt x="3937000" y="54184"/>
                    <a:pt x="3937000" y="73742"/>
                  </a:cubicBezTo>
                  <a:lnTo>
                    <a:pt x="3937000" y="1831258"/>
                  </a:lnTo>
                  <a:cubicBezTo>
                    <a:pt x="3937000" y="1850816"/>
                    <a:pt x="3929231" y="1869572"/>
                    <a:pt x="3915401" y="1883402"/>
                  </a:cubicBezTo>
                  <a:cubicBezTo>
                    <a:pt x="3901572" y="1897231"/>
                    <a:pt x="3882816" y="1905000"/>
                    <a:pt x="3863258" y="1905000"/>
                  </a:cubicBezTo>
                  <a:lnTo>
                    <a:pt x="73742" y="1905000"/>
                  </a:lnTo>
                  <a:cubicBezTo>
                    <a:pt x="54184" y="1905000"/>
                    <a:pt x="35428" y="1897231"/>
                    <a:pt x="21599" y="1883402"/>
                  </a:cubicBezTo>
                  <a:cubicBezTo>
                    <a:pt x="7769" y="1869572"/>
                    <a:pt x="0" y="1850816"/>
                    <a:pt x="0" y="1831258"/>
                  </a:cubicBezTo>
                  <a:lnTo>
                    <a:pt x="0" y="73742"/>
                  </a:lnTo>
                  <a:cubicBezTo>
                    <a:pt x="0" y="54184"/>
                    <a:pt x="7769" y="35428"/>
                    <a:pt x="21599" y="21599"/>
                  </a:cubicBezTo>
                  <a:cubicBezTo>
                    <a:pt x="35428" y="7769"/>
                    <a:pt x="54184" y="0"/>
                    <a:pt x="73742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937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EARLY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FORECAST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12934950" y="3095625"/>
            <a:ext cx="828675" cy="0"/>
          </a:xfrm>
          <a:prstGeom prst="line">
            <a:avLst/>
          </a:prstGeom>
          <a:ln w="76200" cap="rnd">
            <a:solidFill>
              <a:srgbClr val="FF6B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66800" y="2638425"/>
            <a:ext cx="7239000" cy="13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6B5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Reactive control is already late.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4933950"/>
            <a:ext cx="7048500" cy="1376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Video traffic meets volatile bandwidth, mobility, congestion and heterogeneous devices. The result: stalls, startup delay and unstable bitrate—directly damaging user trust.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0" y="5124450"/>
            <a:ext cx="6572250" cy="109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325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learns temporal patterns in telemetry, forecasting degradation early enough for bitrate adaptation, routing and resource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QoS is measured. QoE is felt.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2476500"/>
            <a:ext cx="7239000" cy="3429000"/>
            <a:chOff x="0" y="0"/>
            <a:chExt cx="9652000" cy="457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52000" cy="4572000"/>
            </a:xfrm>
            <a:custGeom>
              <a:avLst/>
              <a:gdLst/>
              <a:ahLst/>
              <a:cxnLst/>
              <a:rect l="l" t="t" r="r" b="b"/>
              <a:pathLst>
                <a:path w="9652000" h="457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10283B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652000" cy="461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01250" y="2476500"/>
            <a:ext cx="7239000" cy="3429000"/>
            <a:chOff x="0" y="0"/>
            <a:chExt cx="9652000" cy="457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52000" cy="4572000"/>
            </a:xfrm>
            <a:custGeom>
              <a:avLst/>
              <a:gdLst/>
              <a:ahLst/>
              <a:cxnLst/>
              <a:rect l="l" t="t" r="r" b="b"/>
              <a:pathLst>
                <a:path w="9652000" h="457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652000" cy="461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4000" y="3038475"/>
            <a:ext cx="5715000" cy="8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Objective network layer</a:t>
            </a:r>
          </a:p>
          <a:p>
            <a:pPr algn="l">
              <a:lnSpc>
                <a:spcPts val="3562"/>
              </a:lnSpc>
            </a:pPr>
            <a:r>
              <a:rPr lang="en-US" sz="28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Throughput · latency · jitter · loss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49000" y="3038475"/>
            <a:ext cx="5715000" cy="868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77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Subjective human outcome</a:t>
            </a:r>
          </a:p>
          <a:p>
            <a:pPr algn="l">
              <a:lnSpc>
                <a:spcPts val="3468"/>
              </a:lnSpc>
            </a:pPr>
            <a:r>
              <a:rPr lang="en-US" sz="277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Clarity · smoothness · satisfaction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286750" y="4191000"/>
            <a:ext cx="1714500" cy="0"/>
          </a:xfrm>
          <a:prstGeom prst="line">
            <a:avLst/>
          </a:prstGeom>
          <a:ln w="114300" cap="rnd">
            <a:solidFill>
              <a:srgbClr val="FF6B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334000" y="7477125"/>
            <a:ext cx="7620000" cy="37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1028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Predict QoS → intervene earlier → protect QoE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4F1E8"/>
                </a:solidFill>
                <a:latin typeface="Archivo Black"/>
                <a:ea typeface="Archivo Black"/>
                <a:cs typeface="Archivo Black"/>
                <a:sym typeface="Archivo Black"/>
              </a:rPr>
              <a:t>Eight signals describe streaming health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2476500"/>
            <a:ext cx="3657600" cy="2190750"/>
            <a:chOff x="0" y="0"/>
            <a:chExt cx="4876800" cy="2921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THROUGHPUT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delivery capacity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05400" y="2476500"/>
            <a:ext cx="3657600" cy="2190750"/>
            <a:chOff x="0" y="0"/>
            <a:chExt cx="4876800" cy="2921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2D6C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LATENCY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end-to-end delay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2476500"/>
            <a:ext cx="3657600" cy="2190750"/>
            <a:chOff x="0" y="0"/>
            <a:chExt cx="4876800" cy="2921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JITTER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delay variation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182600" y="2476500"/>
            <a:ext cx="3657600" cy="2190750"/>
            <a:chOff x="0" y="0"/>
            <a:chExt cx="4876800" cy="2921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2D6C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PACKET LOSS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missing data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6800" y="5429250"/>
            <a:ext cx="3657600" cy="2190750"/>
            <a:chOff x="0" y="0"/>
            <a:chExt cx="4876800" cy="2921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BITRATE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visual fidelity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05400" y="5429250"/>
            <a:ext cx="3657600" cy="2190750"/>
            <a:chOff x="0" y="0"/>
            <a:chExt cx="4876800" cy="2921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2D6C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REBUFFERING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interruption count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44000" y="5429250"/>
            <a:ext cx="3657600" cy="2190750"/>
            <a:chOff x="0" y="0"/>
            <a:chExt cx="4876800" cy="292100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STARTUP DELAY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time to first frame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182600" y="5429250"/>
            <a:ext cx="3657600" cy="2190750"/>
            <a:chOff x="0" y="0"/>
            <a:chExt cx="4876800" cy="29210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4876800" cy="2921000"/>
              <a:chOff x="0" y="0"/>
              <a:chExt cx="4876800" cy="2921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8768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921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028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48768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381000" y="485775"/>
              <a:ext cx="4191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2D6C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STALL RATIO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81000" y="1285875"/>
              <a:ext cx="419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4F1E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time spent frozen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Telemetry becomes a prediction loop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2838450"/>
            <a:ext cx="5143500" cy="21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325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Edge devices emit playback and transport measurements. Streaming telemetry is synchronized, cleaned and windowed; the model forecasts near-term QoS; policy engines act on the prediction.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6810375"/>
            <a:ext cx="5143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6B5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SENSE → PREPARE → PREDICT → ACT</a:t>
            </a:r>
          </a:p>
        </p:txBody>
      </p:sp>
      <p:sp>
        <p:nvSpPr>
          <p:cNvPr id="5" name="Freeform 5"/>
          <p:cNvSpPr/>
          <p:nvPr/>
        </p:nvSpPr>
        <p:spPr>
          <a:xfrm>
            <a:off x="7239000" y="200025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" r="-76"/>
            </a:stretch>
          </a:blipFill>
          <a:ln cap="rnd">
            <a:noFill/>
            <a:prstDash val="solid"/>
            <a:round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memory gates to global attention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2095500" y="5429250"/>
            <a:ext cx="13144500" cy="0"/>
          </a:xfrm>
          <a:prstGeom prst="line">
            <a:avLst/>
          </a:prstGeom>
          <a:ln w="76200" cap="rnd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143000" y="2962275"/>
            <a:ext cx="3143250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1997</a:t>
            </a:r>
          </a:p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LSTM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91250" y="2962275"/>
            <a:ext cx="3714750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2017</a:t>
            </a:r>
          </a:p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Transformer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20500" y="2962275"/>
            <a:ext cx="4476750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2020s</a:t>
            </a:r>
          </a:p>
          <a:p>
            <a:pPr algn="l">
              <a:lnSpc>
                <a:spcPts val="4140"/>
              </a:lnSpc>
            </a:pPr>
            <a:r>
              <a:rPr lang="en-US" sz="36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QoS forecasting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6648450"/>
            <a:ext cx="14954250" cy="72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325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LSTM models sequential dependencies with gated state. Attention exposes long-range interactions and parallel training. Recent networking studies apply both to traffic, throughput and QoE-adjacent prediction tasks.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8915400"/>
            <a:ext cx="15240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07181"/>
                </a:solidFill>
                <a:latin typeface="IBM Plex Mono"/>
                <a:ea typeface="IBM Plex Mono"/>
                <a:cs typeface="IBM Plex Mono"/>
                <a:sym typeface="IBM Plex Mono"/>
              </a:rPr>
              <a:t>Hochreiter &amp; Schmidhuber, 1997  ·  Vaswani et al., 2017  ·  ITU-T P.1203, 2017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4F1E8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open gap is not another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2352675"/>
            <a:ext cx="14287500" cy="73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1"/>
              </a:lnSpc>
            </a:pPr>
            <a:r>
              <a:rPr lang="en-US" sz="5325">
                <a:solidFill>
                  <a:srgbClr val="FF6B5F"/>
                </a:solidFill>
                <a:latin typeface="Archivo Black"/>
                <a:ea typeface="Archivo Black"/>
                <a:cs typeface="Archivo Black"/>
                <a:sym typeface="Archivo Black"/>
              </a:rPr>
              <a:t>It is a fair, reproducible comparison.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4371975"/>
            <a:ext cx="9715500" cy="1165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2475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Existing work often varies datasets, horizons and splits—making claims difficult to compare. Scalability, interpretability and deployment cost remain underreported.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953750" y="4381500"/>
            <a:ext cx="6191250" cy="3143250"/>
            <a:chOff x="0" y="0"/>
            <a:chExt cx="8255000" cy="4191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55000" cy="4191000"/>
            </a:xfrm>
            <a:custGeom>
              <a:avLst/>
              <a:gdLst/>
              <a:ahLst/>
              <a:cxnLst/>
              <a:rect l="l" t="t" r="r" b="b"/>
              <a:pathLst>
                <a:path w="8255000" h="4191000">
                  <a:moveTo>
                    <a:pt x="0" y="0"/>
                  </a:moveTo>
                  <a:lnTo>
                    <a:pt x="8255000" y="0"/>
                  </a:lnTo>
                  <a:lnTo>
                    <a:pt x="8255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255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525250" y="4943475"/>
            <a:ext cx="5334000" cy="301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97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Opportunity</a:t>
            </a:r>
          </a:p>
          <a:p>
            <a:pPr algn="l">
              <a:lnSpc>
                <a:spcPts val="1267"/>
              </a:lnSpc>
            </a:pPr>
            <a:r>
              <a:rPr lang="en-US" sz="97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One pipeline. One chronological split. Two architectures. Transparent metrics and seeds.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A small experiment that others can rerun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7250" y="2286000"/>
            <a:ext cx="5619750" cy="5715000"/>
            <a:chOff x="0" y="0"/>
            <a:chExt cx="7493000" cy="762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93000" cy="7620000"/>
            </a:xfrm>
            <a:custGeom>
              <a:avLst/>
              <a:gdLst/>
              <a:ahLst/>
              <a:cxnLst/>
              <a:rect l="l" t="t" r="r" b="b"/>
              <a:pathLst>
                <a:path w="7493000" h="7620000">
                  <a:moveTo>
                    <a:pt x="0" y="0"/>
                  </a:moveTo>
                  <a:lnTo>
                    <a:pt x="7493000" y="0"/>
                  </a:lnTo>
                  <a:lnTo>
                    <a:pt x="7493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DED8C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493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8250" y="2676525"/>
            <a:ext cx="23812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FF6B5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8250" y="3314700"/>
            <a:ext cx="4762500" cy="1719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Synthetic 10,000-step multimedia trace with seeded congestion regimes; alternatively substitute an open QoS trace using the same schema.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9000" y="2657475"/>
            <a:ext cx="8953500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INPUT WINDOW (30 steps)</a:t>
            </a:r>
          </a:p>
          <a:p>
            <a:pPr algn="l">
              <a:lnSpc>
                <a:spcPts val="2925"/>
              </a:lnSpc>
            </a:pPr>
            <a:r>
              <a:rPr lang="en-US" sz="195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throughput · latency · jitter · loss · bitrate · buffer · startup delay · stall ratio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66800" y="6191250"/>
            <a:ext cx="704850" cy="66675"/>
            <a:chOff x="0" y="0"/>
            <a:chExt cx="939800" cy="88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9800" cy="88900"/>
            </a:xfrm>
            <a:custGeom>
              <a:avLst/>
              <a:gdLst/>
              <a:ahLst/>
              <a:cxnLst/>
              <a:rect l="l" t="t" r="r" b="b"/>
              <a:pathLst>
                <a:path w="939800" h="88900">
                  <a:moveTo>
                    <a:pt x="0" y="0"/>
                  </a:moveTo>
                  <a:lnTo>
                    <a:pt x="939800" y="0"/>
                  </a:lnTo>
                  <a:lnTo>
                    <a:pt x="9398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398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39000" y="6562725"/>
            <a:ext cx="8953500" cy="700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Median imputation → winsorize 1st/99th percentiles → z-score from train only → chronological 70/15/15 split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LSTM: compress the recent past into state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38250" y="3333750"/>
            <a:ext cx="3238500" cy="1619250"/>
            <a:chOff x="0" y="0"/>
            <a:chExt cx="4318000" cy="2159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18000" cy="2159000"/>
            </a:xfrm>
            <a:custGeom>
              <a:avLst/>
              <a:gdLst/>
              <a:ahLst/>
              <a:cxnLst/>
              <a:rect l="l" t="t" r="r" b="b"/>
              <a:pathLst>
                <a:path w="4318000" h="2159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091765"/>
                  </a:lnTo>
                  <a:cubicBezTo>
                    <a:pt x="4318000" y="2128898"/>
                    <a:pt x="4287898" y="2159000"/>
                    <a:pt x="4250765" y="2159000"/>
                  </a:cubicBezTo>
                  <a:lnTo>
                    <a:pt x="67235" y="2159000"/>
                  </a:lnTo>
                  <a:cubicBezTo>
                    <a:pt x="30102" y="2159000"/>
                    <a:pt x="0" y="2128898"/>
                    <a:pt x="0" y="2091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10283B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18000" cy="2187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30 × 8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INPUT WINDOW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0" y="3333750"/>
            <a:ext cx="3143250" cy="1619250"/>
            <a:chOff x="0" y="0"/>
            <a:chExt cx="4191000" cy="215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91000" cy="2159000"/>
            </a:xfrm>
            <a:custGeom>
              <a:avLst/>
              <a:gdLst/>
              <a:ahLst/>
              <a:cxnLst/>
              <a:rect l="l" t="t" r="r" b="b"/>
              <a:pathLst>
                <a:path w="4191000" h="2159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089727"/>
                  </a:lnTo>
                  <a:cubicBezTo>
                    <a:pt x="4191000" y="2108100"/>
                    <a:pt x="4183702" y="2125719"/>
                    <a:pt x="4170711" y="2138711"/>
                  </a:cubicBezTo>
                  <a:cubicBezTo>
                    <a:pt x="4157719" y="2151702"/>
                    <a:pt x="4140100" y="2159000"/>
                    <a:pt x="4121727" y="2159000"/>
                  </a:cubicBezTo>
                  <a:lnTo>
                    <a:pt x="69273" y="2159000"/>
                  </a:lnTo>
                  <a:cubicBezTo>
                    <a:pt x="50900" y="2159000"/>
                    <a:pt x="33281" y="2151702"/>
                    <a:pt x="20290" y="2138711"/>
                  </a:cubicBezTo>
                  <a:cubicBezTo>
                    <a:pt x="7298" y="2125719"/>
                    <a:pt x="0" y="2108100"/>
                    <a:pt x="0" y="2089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191000" cy="2187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LSTM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64 UNITS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96500" y="3333750"/>
            <a:ext cx="3143250" cy="1619250"/>
            <a:chOff x="0" y="0"/>
            <a:chExt cx="4191000" cy="2159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1000" cy="2159000"/>
            </a:xfrm>
            <a:custGeom>
              <a:avLst/>
              <a:gdLst/>
              <a:ahLst/>
              <a:cxnLst/>
              <a:rect l="l" t="t" r="r" b="b"/>
              <a:pathLst>
                <a:path w="4191000" h="2159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089727"/>
                  </a:lnTo>
                  <a:cubicBezTo>
                    <a:pt x="4191000" y="2108100"/>
                    <a:pt x="4183702" y="2125719"/>
                    <a:pt x="4170711" y="2138711"/>
                  </a:cubicBezTo>
                  <a:cubicBezTo>
                    <a:pt x="4157719" y="2151702"/>
                    <a:pt x="4140100" y="2159000"/>
                    <a:pt x="4121727" y="2159000"/>
                  </a:cubicBezTo>
                  <a:lnTo>
                    <a:pt x="69273" y="2159000"/>
                  </a:lnTo>
                  <a:cubicBezTo>
                    <a:pt x="50900" y="2159000"/>
                    <a:pt x="33281" y="2151702"/>
                    <a:pt x="20290" y="2138711"/>
                  </a:cubicBezTo>
                  <a:cubicBezTo>
                    <a:pt x="7298" y="2125719"/>
                    <a:pt x="0" y="2108100"/>
                    <a:pt x="0" y="2089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191000" cy="2187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LSTM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32 UNITS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78000" y="3333750"/>
            <a:ext cx="2476500" cy="1619250"/>
            <a:chOff x="0" y="0"/>
            <a:chExt cx="3302000" cy="2159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02000" cy="2159000"/>
            </a:xfrm>
            <a:custGeom>
              <a:avLst/>
              <a:gdLst/>
              <a:ahLst/>
              <a:cxnLst/>
              <a:rect l="l" t="t" r="r" b="b"/>
              <a:pathLst>
                <a:path w="3302000" h="2159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2071077"/>
                  </a:lnTo>
                  <a:cubicBezTo>
                    <a:pt x="3302000" y="2094396"/>
                    <a:pt x="3292737" y="2116759"/>
                    <a:pt x="3276248" y="2133248"/>
                  </a:cubicBezTo>
                  <a:cubicBezTo>
                    <a:pt x="3259759" y="2149737"/>
                    <a:pt x="3237396" y="2159000"/>
                    <a:pt x="3214077" y="2159000"/>
                  </a:cubicBezTo>
                  <a:lnTo>
                    <a:pt x="87923" y="2159000"/>
                  </a:lnTo>
                  <a:cubicBezTo>
                    <a:pt x="64604" y="2159000"/>
                    <a:pt x="42241" y="2149737"/>
                    <a:pt x="25752" y="2133248"/>
                  </a:cubicBezTo>
                  <a:cubicBezTo>
                    <a:pt x="9263" y="2116759"/>
                    <a:pt x="0" y="2094396"/>
                    <a:pt x="0" y="2071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10283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302000" cy="2187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QoS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ŷ(t+1)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476750" y="4143375"/>
            <a:ext cx="1143000" cy="0"/>
          </a:xfrm>
          <a:prstGeom prst="line">
            <a:avLst/>
          </a:prstGeom>
          <a:ln w="76200" cap="flat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8858250" y="4143375"/>
            <a:ext cx="1143000" cy="0"/>
          </a:xfrm>
          <a:prstGeom prst="line">
            <a:avLst/>
          </a:prstGeom>
          <a:ln w="76200" cap="flat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3239750" y="4143375"/>
            <a:ext cx="1143000" cy="0"/>
          </a:xfrm>
          <a:prstGeom prst="line">
            <a:avLst/>
          </a:prstGeom>
          <a:ln w="76200" cap="flat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2857500" y="7181850"/>
            <a:ext cx="125730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6B5F"/>
                </a:solidFill>
                <a:latin typeface="IBM Plex Mono"/>
                <a:ea typeface="IBM Plex Mono"/>
                <a:cs typeface="IBM Plex Mono"/>
                <a:sym typeface="IBM Plex Mono"/>
              </a:rPr>
              <a:t>hₜ = LSTM(xₜ, hₜ₋₁)  →  ŷₜ₊₁ = Dense(hₜ)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48000" y="8353425"/>
            <a:ext cx="12192000" cy="658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607181"/>
                </a:solidFill>
                <a:latin typeface="IBM Plex Sans"/>
                <a:ea typeface="IBM Plex Sans"/>
                <a:cs typeface="IBM Plex Sans"/>
                <a:sym typeface="IBM Plex Sans"/>
              </a:rPr>
              <a:t>2 stacked LSTM layers · 64/32 units · dropout 0.2 · linear output</a:t>
            </a:r>
          </a:p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607181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Advantage: efficient inductive bias for ordered sequences.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4F1E8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Transformer: let every timestep look back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3238500"/>
            <a:ext cx="3333750" cy="1714500"/>
            <a:chOff x="0" y="0"/>
            <a:chExt cx="44450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2286000"/>
            </a:xfrm>
            <a:custGeom>
              <a:avLst/>
              <a:gdLst/>
              <a:ahLst/>
              <a:cxnLst/>
              <a:rect l="l" t="t" r="r" b="b"/>
              <a:pathLst>
                <a:path w="4445000" h="2286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220686"/>
                  </a:lnTo>
                  <a:cubicBezTo>
                    <a:pt x="4445000" y="2238008"/>
                    <a:pt x="4438119" y="2254621"/>
                    <a:pt x="4425870" y="2266870"/>
                  </a:cubicBezTo>
                  <a:cubicBezTo>
                    <a:pt x="4413621" y="2279119"/>
                    <a:pt x="4397008" y="2286000"/>
                    <a:pt x="4379686" y="2286000"/>
                  </a:cubicBezTo>
                  <a:lnTo>
                    <a:pt x="65314" y="2286000"/>
                  </a:lnTo>
                  <a:cubicBezTo>
                    <a:pt x="47992" y="2286000"/>
                    <a:pt x="31379" y="2279119"/>
                    <a:pt x="19130" y="2266870"/>
                  </a:cubicBezTo>
                  <a:cubicBezTo>
                    <a:pt x="6881" y="2254621"/>
                    <a:pt x="0" y="2238008"/>
                    <a:pt x="0" y="2220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4F1E8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445000" cy="231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WINDOW +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POSITION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19750" y="3238500"/>
            <a:ext cx="3810000" cy="1714500"/>
            <a:chOff x="0" y="0"/>
            <a:chExt cx="5080000" cy="228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80000" cy="2286000"/>
            </a:xfrm>
            <a:custGeom>
              <a:avLst/>
              <a:gdLst/>
              <a:ahLst/>
              <a:cxnLst/>
              <a:rect l="l" t="t" r="r" b="b"/>
              <a:pathLst>
                <a:path w="5080000" h="2286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228850"/>
                  </a:lnTo>
                  <a:cubicBezTo>
                    <a:pt x="5080000" y="2260413"/>
                    <a:pt x="5054413" y="2286000"/>
                    <a:pt x="5022850" y="2286000"/>
                  </a:cubicBezTo>
                  <a:lnTo>
                    <a:pt x="57150" y="2286000"/>
                  </a:lnTo>
                  <a:cubicBezTo>
                    <a:pt x="25587" y="2286000"/>
                    <a:pt x="0" y="2260413"/>
                    <a:pt x="0" y="2228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080000" cy="231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MULTI-HEAD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ATTENTION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68000" y="3238500"/>
            <a:ext cx="3333750" cy="1714500"/>
            <a:chOff x="0" y="0"/>
            <a:chExt cx="44450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2286000"/>
            </a:xfrm>
            <a:custGeom>
              <a:avLst/>
              <a:gdLst/>
              <a:ahLst/>
              <a:cxnLst/>
              <a:rect l="l" t="t" r="r" b="b"/>
              <a:pathLst>
                <a:path w="4445000" h="2286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220686"/>
                  </a:lnTo>
                  <a:cubicBezTo>
                    <a:pt x="4445000" y="2238008"/>
                    <a:pt x="4438119" y="2254621"/>
                    <a:pt x="4425870" y="2266870"/>
                  </a:cubicBezTo>
                  <a:cubicBezTo>
                    <a:pt x="4413621" y="2279119"/>
                    <a:pt x="4397008" y="2286000"/>
                    <a:pt x="4379686" y="2286000"/>
                  </a:cubicBezTo>
                  <a:lnTo>
                    <a:pt x="65314" y="2286000"/>
                  </a:lnTo>
                  <a:cubicBezTo>
                    <a:pt x="47992" y="2286000"/>
                    <a:pt x="31379" y="2279119"/>
                    <a:pt x="19130" y="2266870"/>
                  </a:cubicBezTo>
                  <a:cubicBezTo>
                    <a:pt x="6881" y="2254621"/>
                    <a:pt x="0" y="2238008"/>
                    <a:pt x="0" y="2220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445000" cy="231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ENCODER ×2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240000" y="3238500"/>
            <a:ext cx="2095500" cy="1714500"/>
            <a:chOff x="0" y="0"/>
            <a:chExt cx="2794000" cy="228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94000" cy="2286000"/>
            </a:xfrm>
            <a:custGeom>
              <a:avLst/>
              <a:gdLst/>
              <a:ahLst/>
              <a:cxnLst/>
              <a:rect l="l" t="t" r="r" b="b"/>
              <a:pathLst>
                <a:path w="2794000" h="22860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2182091"/>
                  </a:lnTo>
                  <a:cubicBezTo>
                    <a:pt x="2794000" y="2209649"/>
                    <a:pt x="2783052" y="2236079"/>
                    <a:pt x="2763566" y="2255566"/>
                  </a:cubicBezTo>
                  <a:cubicBezTo>
                    <a:pt x="2744079" y="2275052"/>
                    <a:pt x="2717649" y="2286000"/>
                    <a:pt x="2690091" y="2286000"/>
                  </a:cubicBezTo>
                  <a:lnTo>
                    <a:pt x="103909" y="2286000"/>
                  </a:lnTo>
                  <a:cubicBezTo>
                    <a:pt x="76351" y="2286000"/>
                    <a:pt x="49921" y="2275052"/>
                    <a:pt x="30434" y="2255566"/>
                  </a:cubicBezTo>
                  <a:cubicBezTo>
                    <a:pt x="10948" y="2236079"/>
                    <a:pt x="0" y="2209649"/>
                    <a:pt x="0" y="21820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F4F1E8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794000" cy="231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QoS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ŷ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381500" y="4095750"/>
            <a:ext cx="1143000" cy="0"/>
          </a:xfrm>
          <a:prstGeom prst="line">
            <a:avLst/>
          </a:prstGeom>
          <a:ln w="76200" cap="flat">
            <a:solidFill>
              <a:srgbClr val="FF6B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9429750" y="4095750"/>
            <a:ext cx="1143000" cy="0"/>
          </a:xfrm>
          <a:prstGeom prst="line">
            <a:avLst/>
          </a:prstGeom>
          <a:ln w="76200" cap="flat">
            <a:solidFill>
              <a:srgbClr val="FF6B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4001750" y="4095750"/>
            <a:ext cx="1143000" cy="0"/>
          </a:xfrm>
          <a:prstGeom prst="line">
            <a:avLst/>
          </a:prstGeom>
          <a:ln w="76200" cap="flat">
            <a:solidFill>
              <a:srgbClr val="FF6B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2857500" y="7267575"/>
            <a:ext cx="125730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>
                <a:solidFill>
                  <a:srgbClr val="32D6C5"/>
                </a:solidFill>
                <a:latin typeface="IBM Plex Mono"/>
                <a:ea typeface="IBM Plex Mono"/>
                <a:cs typeface="IBM Plex Mono"/>
                <a:sym typeface="IBM Plex Mono"/>
              </a:rPr>
              <a:t>Attention(Q,K,V) = softmax(QKᵀ / √dₖ)V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76500" y="8429625"/>
            <a:ext cx="13335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Projection + positional encoding · 2 encoder blocks · 4 heads · d_model 64 · mean pooling · linear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42950"/>
            <a:ext cx="14287500" cy="59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Protocol: leakage prevention is the experiment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7250" y="3333750"/>
            <a:ext cx="2381250" cy="1428750"/>
            <a:chOff x="0" y="0"/>
            <a:chExt cx="3175000" cy="190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17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GENERATE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3238500" y="4048125"/>
            <a:ext cx="476250" cy="0"/>
          </a:xfrm>
          <a:prstGeom prst="line">
            <a:avLst/>
          </a:prstGeom>
          <a:ln w="57150" cap="flat">
            <a:solidFill>
              <a:srgbClr val="1028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3762375" y="3333750"/>
            <a:ext cx="2381250" cy="1428750"/>
            <a:chOff x="0" y="0"/>
            <a:chExt cx="3175000" cy="190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17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SPLIT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6143625" y="4048125"/>
            <a:ext cx="476250" cy="0"/>
          </a:xfrm>
          <a:prstGeom prst="line">
            <a:avLst/>
          </a:prstGeom>
          <a:ln w="57150" cap="flat">
            <a:solidFill>
              <a:srgbClr val="1028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6667500" y="3333750"/>
            <a:ext cx="2381250" cy="1428750"/>
            <a:chOff x="0" y="0"/>
            <a:chExt cx="3175000" cy="190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17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FIT SCALER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9048750" y="4048125"/>
            <a:ext cx="476250" cy="0"/>
          </a:xfrm>
          <a:prstGeom prst="line">
            <a:avLst/>
          </a:prstGeom>
          <a:ln w="57150" cap="flat">
            <a:solidFill>
              <a:srgbClr val="1028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572625" y="3333750"/>
            <a:ext cx="2381250" cy="1428750"/>
            <a:chOff x="0" y="0"/>
            <a:chExt cx="3175000" cy="190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17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WINDOW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1953875" y="4048125"/>
            <a:ext cx="476250" cy="0"/>
          </a:xfrm>
          <a:prstGeom prst="line">
            <a:avLst/>
          </a:prstGeom>
          <a:ln w="57150" cap="flat">
            <a:solidFill>
              <a:srgbClr val="1028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2477750" y="3333750"/>
            <a:ext cx="2381250" cy="1428750"/>
            <a:chOff x="0" y="0"/>
            <a:chExt cx="3175000" cy="1905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17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07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TRAIN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4859000" y="4048125"/>
            <a:ext cx="476250" cy="0"/>
          </a:xfrm>
          <a:prstGeom prst="line">
            <a:avLst/>
          </a:prstGeom>
          <a:ln w="57150" cap="flat">
            <a:solidFill>
              <a:srgbClr val="1028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5382875" y="3333750"/>
            <a:ext cx="2381250" cy="1428750"/>
            <a:chOff x="0" y="0"/>
            <a:chExt cx="3175000" cy="1905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17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TEST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000250" y="7486650"/>
            <a:ext cx="142875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Adam · batch 64 · up to 50 epochs · early stopping patience 7 · seed 42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 MAE, RMSE, MAPE and R² on the untouched final 15%.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33425"/>
            <a:ext cx="14287500" cy="61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6"/>
              </a:lnSpc>
            </a:pPr>
            <a:r>
              <a:rPr lang="en-US" sz="4425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Illustrative result: Transformer leads on error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30" y="724860"/>
            <a:ext cx="18345059" cy="902778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" y="8829675"/>
            <a:ext cx="13335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18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 reproducible experiment output · lower is better except R²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4F1E8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Accuracy improves; compute cost rises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05" y="1537436"/>
            <a:ext cx="10147490" cy="787887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68000" y="3028950"/>
            <a:ext cx="6191250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Transformer reduces RMSE by ~14% and improves R², but trains ~1.8× longer in this small setup. LSTM remains attractive where latency and memory dominate.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0" y="6600825"/>
            <a:ext cx="6191250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>
                <a:solidFill>
                  <a:srgbClr val="FF6B5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TRAIN TIME</a:t>
            </a:r>
          </a:p>
          <a:p>
            <a:pPr algn="l">
              <a:lnSpc>
                <a:spcPts val="3150"/>
              </a:lnSpc>
            </a:pPr>
            <a:r>
              <a:rPr lang="en-US" sz="2100" b="1">
                <a:solidFill>
                  <a:srgbClr val="FF6B5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LSTM 42 s  ·  Transformer 76 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42950"/>
            <a:ext cx="14287500" cy="59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Throughput and loss carry the strongest signal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15" y="1512957"/>
            <a:ext cx="10393019" cy="77373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049000" y="3219450"/>
            <a:ext cx="5905500" cy="181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325">
                <a:solidFill>
                  <a:srgbClr val="1028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Illustrative Transformer ablation: removing throughput causes the largest MAE increase. Performance also degrades as training data shrinks below 50%; four attention heads is a stable middle ground.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4F1E8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Deploy the right model at the right layer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2571750"/>
            <a:ext cx="7143750" cy="4095750"/>
            <a:chOff x="0" y="0"/>
            <a:chExt cx="9525000" cy="5461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25000" cy="5461000"/>
            </a:xfrm>
            <a:custGeom>
              <a:avLst/>
              <a:gdLst/>
              <a:ahLst/>
              <a:cxnLst/>
              <a:rect l="l" t="t" r="r" b="b"/>
              <a:pathLst>
                <a:path w="9525000" h="5461000">
                  <a:moveTo>
                    <a:pt x="0" y="0"/>
                  </a:moveTo>
                  <a:lnTo>
                    <a:pt x="9525000" y="0"/>
                  </a:lnTo>
                  <a:lnTo>
                    <a:pt x="9525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525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01250" y="2571750"/>
            <a:ext cx="7143750" cy="4095750"/>
            <a:chOff x="0" y="0"/>
            <a:chExt cx="9525000" cy="546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25000" cy="5461000"/>
            </a:xfrm>
            <a:custGeom>
              <a:avLst/>
              <a:gdLst/>
              <a:ahLst/>
              <a:cxnLst/>
              <a:rect l="l" t="t" r="r" b="b"/>
              <a:pathLst>
                <a:path w="9525000" h="5461000">
                  <a:moveTo>
                    <a:pt x="0" y="0"/>
                  </a:moveTo>
                  <a:lnTo>
                    <a:pt x="9525000" y="0"/>
                  </a:lnTo>
                  <a:lnTo>
                    <a:pt x="9525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4F1E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25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19250" y="3095625"/>
            <a:ext cx="5905500" cy="105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EDGE</a:t>
            </a:r>
          </a:p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Low latency · local privacy · constrained memory</a:t>
            </a:r>
          </a:p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Best fit: compact LSTM or distilled attention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3250" y="3105150"/>
            <a:ext cx="590550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CLOUD</a:t>
            </a:r>
          </a:p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Scale · global context · centralized updates</a:t>
            </a:r>
          </a:p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7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Best fit: Transformer with richer histories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95500" y="8067675"/>
            <a:ext cx="14097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4F1E8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Operational guardrails: drift monitoring · encrypted telemetry · fallback policy · standards-based network management APIs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33425"/>
            <a:ext cx="14287500" cy="61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6"/>
              </a:lnSpc>
            </a:pPr>
            <a:r>
              <a:rPr lang="en-US" sz="4425">
                <a:solidFill>
                  <a:srgbClr val="10283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Predict early. Act carefully. Report honestly.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762250"/>
            <a:ext cx="5048250" cy="3143250"/>
            <a:chOff x="0" y="0"/>
            <a:chExt cx="6731000" cy="4191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31000" cy="4191000"/>
            </a:xfrm>
            <a:custGeom>
              <a:avLst/>
              <a:gdLst/>
              <a:ahLst/>
              <a:cxnLst/>
              <a:rect l="l" t="t" r="r" b="b"/>
              <a:pathLst>
                <a:path w="6731000" h="4191000">
                  <a:moveTo>
                    <a:pt x="0" y="0"/>
                  </a:moveTo>
                  <a:lnTo>
                    <a:pt x="6731000" y="0"/>
                  </a:lnTo>
                  <a:lnTo>
                    <a:pt x="673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DED8C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73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72250" y="2762250"/>
            <a:ext cx="5048250" cy="3143250"/>
            <a:chOff x="0" y="0"/>
            <a:chExt cx="6731000" cy="419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0" cy="4191000"/>
            </a:xfrm>
            <a:custGeom>
              <a:avLst/>
              <a:gdLst/>
              <a:ahLst/>
              <a:cxnLst/>
              <a:rect l="l" t="t" r="r" b="b"/>
              <a:pathLst>
                <a:path w="6731000" h="4191000">
                  <a:moveTo>
                    <a:pt x="0" y="0"/>
                  </a:moveTo>
                  <a:lnTo>
                    <a:pt x="6731000" y="0"/>
                  </a:lnTo>
                  <a:lnTo>
                    <a:pt x="673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73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92000" y="2762250"/>
            <a:ext cx="5048250" cy="3143250"/>
            <a:chOff x="0" y="0"/>
            <a:chExt cx="6731000" cy="419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0" cy="4191000"/>
            </a:xfrm>
            <a:custGeom>
              <a:avLst/>
              <a:gdLst/>
              <a:ahLst/>
              <a:cxnLst/>
              <a:rect l="l" t="t" r="r" b="b"/>
              <a:pathLst>
                <a:path w="6731000" h="4191000">
                  <a:moveTo>
                    <a:pt x="0" y="0"/>
                  </a:moveTo>
                  <a:lnTo>
                    <a:pt x="6731000" y="0"/>
                  </a:lnTo>
                  <a:lnTo>
                    <a:pt x="673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DED8C9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73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38250" y="3114675"/>
            <a:ext cx="4476750" cy="46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LIMITATIONS</a:t>
            </a:r>
          </a:p>
          <a:p>
            <a:pPr algn="l">
              <a:lnSpc>
                <a:spcPts val="1822"/>
              </a:lnSpc>
            </a:pPr>
            <a:r>
              <a:rPr lang="en-US" sz="135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Synthetic regimes, one-step horizon, no live A/B test.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0" y="3124200"/>
            <a:ext cx="447675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ETHICS</a:t>
            </a:r>
          </a:p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Minimize telemetry, document bias, retain human override.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77750" y="3124200"/>
            <a:ext cx="447675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NEXT</a:t>
            </a:r>
          </a:p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028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Multi-horizon uncertainty, drift adaptation, edge compression.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81250" y="7229475"/>
            <a:ext cx="13525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6B5F"/>
                </a:solidFill>
                <a:latin typeface="Archivo Black"/>
                <a:ea typeface="Archivo Black"/>
                <a:cs typeface="Archivo Black"/>
                <a:sym typeface="Archivo Black"/>
              </a:rPr>
              <a:t>LSTM is the efficient baseline. Transformer offers stronger long-range accuracy. Reproducible evaluation—not architecture hype—turns prediction into trustworthy QoS assurance.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752475"/>
            <a:ext cx="1428750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4F1E8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" y="1762125"/>
            <a:ext cx="704850" cy="66675"/>
            <a:chOff x="0" y="0"/>
            <a:chExt cx="9398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9800" cy="88900"/>
            </a:xfrm>
            <a:custGeom>
              <a:avLst/>
              <a:gdLst/>
              <a:ahLst/>
              <a:cxnLst/>
              <a:rect l="l" t="t" r="r" b="b"/>
              <a:pathLst>
                <a:path w="939800" h="88900">
                  <a:moveTo>
                    <a:pt x="0" y="0"/>
                  </a:moveTo>
                  <a:lnTo>
                    <a:pt x="939800" y="0"/>
                  </a:lnTo>
                  <a:lnTo>
                    <a:pt x="9398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398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66800" y="2181225"/>
            <a:ext cx="7429500" cy="243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Hochreiter, S. &amp; Schmidhuber, J. (1997). Long Short-Term Memory. Neural Computation.</a:t>
            </a:r>
          </a:p>
          <a:p>
            <a:pPr algn="l">
              <a:lnSpc>
                <a:spcPts val="2437"/>
              </a:lnSpc>
            </a:pPr>
            <a:endParaRPr lang="en-US" sz="1950">
              <a:solidFill>
                <a:srgbClr val="F4F1E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Vaswani, A. et al. (2017). Attention Is All You Need. NeurIPS.</a:t>
            </a:r>
          </a:p>
          <a:p>
            <a:pPr algn="l">
              <a:lnSpc>
                <a:spcPts val="2437"/>
              </a:lnSpc>
            </a:pPr>
            <a:endParaRPr lang="en-US" sz="1950">
              <a:solidFill>
                <a:srgbClr val="F4F1E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ITU-T P.1203 (2017). Parametric bitstream-based quality assessment of progressive download and adaptive audiovisual streaming services.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20250" y="2181225"/>
            <a:ext cx="7524750" cy="243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Seufert, M. et al. (2015). A Survey on Quality of Experience of HTTP Adaptive Streaming. IEEE Communications Surveys &amp; Tutorials.</a:t>
            </a:r>
          </a:p>
          <a:p>
            <a:pPr algn="l">
              <a:lnSpc>
                <a:spcPts val="2437"/>
              </a:lnSpc>
            </a:pPr>
            <a:endParaRPr lang="en-US" sz="1950">
              <a:solidFill>
                <a:srgbClr val="F4F1E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Mao, H., Netravali, R. &amp; Alizadeh, M. (2017). Neural Adaptive Video Streaming with Pensieve. SIGCOMM.</a:t>
            </a:r>
          </a:p>
          <a:p>
            <a:pPr algn="l">
              <a:lnSpc>
                <a:spcPts val="2437"/>
              </a:lnSpc>
            </a:pPr>
            <a:endParaRPr lang="en-US" sz="1950">
              <a:solidFill>
                <a:srgbClr val="F4F1E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Recommendation: publish code, seed, schema, split indices and environment lockfile with results.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8820150"/>
            <a:ext cx="15240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32D6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FOUNDATIONS · QOE · ADAPTIVE STREAMING · REPRODUCIBILITY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927</Words>
  <Application>Microsoft Office PowerPoint</Application>
  <PresentationFormat>Custom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Archivo Black</vt:lpstr>
      <vt:lpstr>Arial Black</vt:lpstr>
      <vt:lpstr>Calibri</vt:lpstr>
      <vt:lpstr>IBM Plex Mono Bold</vt:lpstr>
      <vt:lpstr>IBM Plex Mono</vt:lpstr>
      <vt:lpstr>IBM Plex Sans</vt:lpstr>
      <vt:lpstr>Arial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Video QoS Prediction PPT</dc:title>
  <dc:creator>HP</dc:creator>
  <cp:lastModifiedBy>Amitav Sahu</cp:lastModifiedBy>
  <cp:revision>2</cp:revision>
  <dcterms:created xsi:type="dcterms:W3CDTF">2006-08-16T00:00:00Z</dcterms:created>
  <dcterms:modified xsi:type="dcterms:W3CDTF">2026-10-27T19:27:44Z</dcterms:modified>
  <dc:identifier>DAHZO1QQZLk</dc:identifier>
</cp:coreProperties>
</file>